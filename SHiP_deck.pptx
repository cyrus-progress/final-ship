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Georgia"/>
              </a:rPr>
              <a:t>Global mRNA Vaccine Market (USD B)¹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mRNA vaccine market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  <c:pt idx="4">
                    <c:v>2032</c:v>
                  </c:pt>
                  <c:pt idx="5">
                    <c:v>2034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6.01</c:v>
                </c:pt>
                <c:pt idx="1">
                  <c:v>6.85</c:v>
                </c:pt>
                <c:pt idx="2">
                  <c:v>9.5</c:v>
                </c:pt>
                <c:pt idx="3">
                  <c:v>13.3</c:v>
                </c:pt>
                <c:pt idx="4">
                  <c:v>18.6</c:v>
                </c:pt>
                <c:pt idx="5">
                  <c:v>25.6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Georgia"/>
              </a:rPr>
              <a:t>Cost per delivered dose in LMICs (USD, est.)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delivered dose (USD)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Current LNP (LMIC)</c:v>
                  </c:pt>
                  <c:pt idx="1">
                    <c:v>SHiP (LMIC)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83080" y="3246120"/>
            <a:ext cx="3657600" cy="3657600"/>
          </a:xfrm>
          <a:prstGeom prst="ellipse">
            <a:avLst/>
          </a:prstGeom>
          <a:solidFill>
            <a:srgbClr val="06B6D4">
              <a:alpha val="3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3291840"/>
            <a:ext cx="3657600" cy="3657600"/>
          </a:xfrm>
          <a:prstGeom prst="ellipse">
            <a:avLst/>
          </a:prstGeom>
          <a:solidFill>
            <a:srgbClr val="06B6D4">
              <a:alpha val="3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691640" y="3337560"/>
            <a:ext cx="3657600" cy="3657600"/>
          </a:xfrm>
          <a:prstGeom prst="ellipse">
            <a:avLst/>
          </a:prstGeom>
          <a:solidFill>
            <a:srgbClr val="06B6D4">
              <a:alpha val="34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645920" y="3383280"/>
            <a:ext cx="3657600" cy="3657600"/>
          </a:xfrm>
          <a:prstGeom prst="ellipse">
            <a:avLst/>
          </a:prstGeom>
          <a:solidFill>
            <a:srgbClr val="06B6D4">
              <a:alpha val="32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600200" y="3429000"/>
            <a:ext cx="36576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554480" y="3474720"/>
            <a:ext cx="3657600" cy="3657600"/>
          </a:xfrm>
          <a:prstGeom prst="ellipse">
            <a:avLst/>
          </a:prstGeom>
          <a:solidFill>
            <a:srgbClr val="06B6D4">
              <a:alpha val="2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508760" y="3520440"/>
            <a:ext cx="3657600" cy="3657600"/>
          </a:xfrm>
          <a:prstGeom prst="ellipse">
            <a:avLst/>
          </a:prstGeom>
          <a:solidFill>
            <a:srgbClr val="06B6D4">
              <a:alpha val="2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463040" y="3566160"/>
            <a:ext cx="3657600" cy="3657600"/>
          </a:xfrm>
          <a:prstGeom prst="ellipse">
            <a:avLst/>
          </a:prstGeom>
          <a:solidFill>
            <a:srgbClr val="06B6D4">
              <a:alpha val="24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417320" y="3611880"/>
            <a:ext cx="3657600" cy="3657600"/>
          </a:xfrm>
          <a:prstGeom prst="ellipse">
            <a:avLst/>
          </a:prstGeom>
          <a:solidFill>
            <a:srgbClr val="06B6D4">
              <a:alpha val="22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6B6D4">
              <a:alpha val="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25880" y="3703320"/>
            <a:ext cx="3657600" cy="3657600"/>
          </a:xfrm>
          <a:prstGeom prst="ellipse">
            <a:avLst/>
          </a:prstGeom>
          <a:solidFill>
            <a:srgbClr val="06B6D4">
              <a:alpha val="1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EARTHSHOT PROPOSAL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reason mRNA vaccines need a freezer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isn't engineering. It's chemistry.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Cyrus 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Silica-Histidine Polyplex Platform    ·  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mRNA vaccines live or die by the cold chain.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mRNA vaccines must be stored at −70 °C to −20 °C.⁷ That single requirement is why billions of people — the ones who most need fast-response vaccines during an outbreak — can't actually get them.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infrastructure fails during transport, during blackouts, during heatwaves. When it fails, the vaccine fails — silently.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50876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508760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5819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billion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49440" y="1600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live where reliable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ultra-cold storage doesn't exist⁶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2670048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670048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49440" y="27614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vaccines discarded globally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temperature failures⁴,⁵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3831336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831336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9044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$20–35B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392277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pharma losses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breakdowns⁵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references on final slide.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growing market with a broken distribution layer.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554480"/>
            <a:ext cx="2880360" cy="30175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growing market that only reaches patients with functional cold-chain infrastructure.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0" y="32461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LNPs require ultracold storage because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oxidation cannot be stopped by cooling below −20 °C.⁷,⁸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references on final slide.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oxidation is architectural, not incidental.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mRNA vaccine uses ionizable lipids (SM-102, ALC-0315, DLin-MC3-DMA)⁷ with unsaturated fatty tails. Those double bonds are what let the bubble pop open inside cells — but they're also what makes it go rancid.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40233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14600"/>
            <a:ext cx="40233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UNSATURATED (current LNPs)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C–H bond energy ≈ 75 kcal/mol⁹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Bis-allylic hydrogens (next to double bonds) are loosely held. Oxygen can rip them off, starting a chain reaction that propagates through the whole lipid.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flaxseed oil goes rancid in months.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514600"/>
            <a:ext cx="40233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14600"/>
            <a:ext cx="4023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(SHiP approach)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C–H bond energy ≈ 98 kcal/mol⁹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bonds → hydrogens held tightly → oxygen has nothing to abstract. No chain reaction can start.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oil sits on the shelf for years.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LNP potency and instability are chemically coupled. Swapping to saturated lipids loses 10–100× potency.⁷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slow the reaction.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the substrate.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approach — lyophilization, antioxidants, oxygen-free packaging, ultra-cold freezers — tries to make oxidation happen more slowly. They keep the oxidation-prone chemistry in the product and try to protect it. That works to a point, but it never reaches zero.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eliminates the substrate entirely.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oxidizable bond exists anywhere in the delivery vehicle. There is nothing for oxygen to attack — regardless of how much of it gets into the vial.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100" dirty="0"/>
          </a:p>
        </p:txBody>
      </p:sp>
      <p:pic>
        <p:nvPicPr>
          <p:cNvPr id="3" name="Image 0" descr="/home/claude/ship_deck/ship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640080"/>
            <a:ext cx="91440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pHK polymer: mRNA grabber + pH-activated switch.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two natural amino acids — poly(histidine-co-lysine).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40233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LYSINE (K)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grabbing.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Positively charged ε-amine (pKa ≈ 10.5) → grabs negatively charged mRNA via electrostatic collapse.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primary amines catalyze silica shell formation (diatom-style biomimicry).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4023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HISTIDINE (H)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unlocking.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Imidazole side chain has pKa ≈ 6.0 — the only natural amino acid whose pKa sits between bloodstream and endosome.¹¹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outside cells.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inside the endosome. Acts as a pH-triggered switch that drives the proton sponge escape.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via N-carboxyanhydride polymerization — a GMP-proven process (Copaxone uses the same chemistry).¹⁶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Biomimetic silica shell: the oxidation-proof armor.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~5 nm glass coating, grown by the polymer itself — inspired by diatoms.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110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Oxidation-terminal chemistry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is already in its highest oxidation state. Si–O bonds (~108 kcal/mol) cannot be broken by oxygen at storage temperatures. Silica is, chemically, the endpoint of oxidation — not a substrate for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254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Self-assembled from the polyplex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TMOS (a silica precursor) to the polyplex suspension: the polymer's lysine amines catalyze silica deposition on the particle surface. Same mechanism diatoms use with silaffin peptides.¹² The particle grows its own shell.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398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Dissolves on demand in the endosome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biomimetic silica dissolves in ~1 hour under endosomal conditions (pH drop + phosphate catalysis + amine dopants). Storage-stable outside cells, releases cargo inside them.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Precedent: Sartbaeva group (Bath) ensilication — proteins functional after months at RT in silica shells.¹³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Trehalose glass: the tardigrade trick.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amber-like sugar matrix that freezes molecular motion at room temperature.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tardigrades survive desiccation: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synthesize trehalose to ~20% of their dry weight.¹⁴ When they dry out, trehalose forms a glassy solid that locks every biomolecule in place.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glass transition temperature (T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sugar is syrupy, things move. Below T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sugar is rigid, everything is immobile on pharmaceutical timescales.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particles suspended in trehalose glass at &lt;1% residual moisture have T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70 °C. At 25 °C storage, nothing can diffuse, aggregate, or react.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1828800"/>
            <a:ext cx="3200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1828800"/>
            <a:ext cx="3200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TREHALOSE SPECIFICALLY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Non-reducing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037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react with mRNA bases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372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disaccharide glass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 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 many biologics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3794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hygroscopy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re-absorb moisture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used in Herceptin, Advate, Avastin — well-precedented regulatory path.¹⁴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Mannose surface: the APC ID badge.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tags that say "I'm a pathogen, eat me" — to exactly the right cells.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mannose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mannose sugar molecules attached to PEG chains on the particle's outer surface (~5% of PEG arms).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Recognized by APCs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Dendritic cells and macrophages express CD206 and DC-SIGN — C-type lectin receptors that evolved to detect mannose-rich pathogens (bacteria, fungi, viruses).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Receptor-mediated uptake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preferentially internalized by exactly the immune cells that initiate vaccine responses. Non-APCs largely ignore them.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antigen is produced in the exact cell type that presents it to T cells. No wasted dose.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SHiP survives 12+ months at 25 °C.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517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CURRENT LNPs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SHiP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oxidation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failure mode for LNPs.⁷,⁸ Unstoppable above absolute zero.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9202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oxidizable substrate exists. Rate = 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8229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 aggregation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collide and fuse during storage.⁷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26334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matrix immobilizes every particle.¹⁴ Rate ≈ 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8229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4670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mRNA hydrolysis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3467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2′-OH attacks the phosphate backbone — intrinsic to RNA.⁷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33467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activity &lt;0.1 in the glass matrix slows rate ~10×.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14216"/>
            <a:ext cx="8229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5993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hydrolysis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05993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 bonds in LNPs break down over time.⁷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405993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no lipids in the system.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residual failure: mRNA hydrolysis — bounded, not solved. Sets the 12-month shelf life target.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endosomal escape cascade.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storage-stable features become two delivery-activated features — in the right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Mannose tags on particle surface bind CD206 on dendritic cells. Receptor-mediated endocytosis.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01000" y="194767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Endosomal acidification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377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V-ATPase pumps protons into the endosome. pH drops from 7.4 → 6 → 5.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249631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4963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 → 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Silica dissolves + histidine switches 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+ phosphate catalysis dissolves the shell over ~1 hr. Histidine imidazoles (pKa 6) protonate, gaining positive charge.¹¹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01000" y="304495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Proton sponge → endosome rupture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Protonated polymer pulls H⁺ and Cl⁻ into the endosome. Water follows. Endosome swells and bursts.¹⁰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01000" y="359359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593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mRNA release + translation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Polyplex disassembles in the cytosol. Ribosomes translate mRNA → antigen → MHC presentation → immune response.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01000" y="414223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4142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design coupling: silica dissolution and proton sponge activation must occur on the same ~1-hour timescale.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DEFENSIBLE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one-paragraph defense.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replaces every oxidation-prone bond in a current mRNA-LNP with a chemically inert equivalent. </a:t>
            </a:r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ionizable lipid is replaced by a polyhistidine-polylysine polymer that uses the same pH-responsive endosomal escape principle — proton sponge instead of lipid flip — without any C=C bonds. The structural stability normally provided by cholesterol and helper lipids is replaced by a thin biomimetic silica shell that is thermodynamically oxidation-terminal.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 is a vehicle that is structurally incapable of lipid peroxidation, while retaining the pH-triggered, APC-targeted, endosomally-released delivery behavior that makes mRNA vaccines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457200" cy="182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 is potency for stability — and for vaccine indications in cold-chain-constrained markets, that is the right trade.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OBJECTION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not just lyophilize an LNP?"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CureVac and Sanofi have shown ~6 months at 25 °C with lyophilized LNPs. If freeze-drying already gets you most of the way there, why redesign the carrier?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54864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lyophilization slows three of the four failure modes — and is structurally incapable of slowing the fourth.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089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LNP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 LNP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(LYO)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7863840" cy="10973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mRNA hydrolysis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25596"/>
            <a:ext cx="786384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0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 aggregation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630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630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3630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18204"/>
            <a:ext cx="786384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227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hydrolysis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9227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9227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9227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10812"/>
            <a:ext cx="786384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153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oxidation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4215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215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4215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Lyophilization is necessary, not sufficient. SHiP is the architectural step that removes the ceiling.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Addressable market: cold-chain-constrained mRNA vaccines.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974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2034¹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global mRNA vaccine doses annually. The full addressable market, regardless of carrier.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45920"/>
            <a:ext cx="2697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$4–8B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doses delivered where cold chain is the binding constraint: LMICs, rural, stockpile, pandemic response.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645920"/>
            <a:ext cx="2697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(10-YR)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$0.4–1.5B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179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capture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carrier for vaccines where cold chain is binding and LNP potency is not required. Vaccine-only, first-gen.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doesn't need to beat LNPs on potency — it needs to be the default where cold chain is the binding constraint.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references on final slide.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per delivered dose. More people reached.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554480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20640" y="1554480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0" y="162763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~$7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122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per dose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eliminated cold chain + wastage recovery³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0" y="2532888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0" y="2532888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2606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~€5.7B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1228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EU cold chain savings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2990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IQVIA 2025 analysis, all thermostable vaccines³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20640" y="3511296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3511296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35844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200–800K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812280" y="3648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deaths averted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12280" y="3968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moderate pandemic, +15–25% coverage vs LNP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Trade: ~2× more mRNA per dose (lower potency) × ~5× savings per delivered dose = still cheaper overall.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computational proposal to first vaccine product.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60020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silico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Multi-pathway kinetics; molecular dynamics; integrated design document. Solo-executable.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&lt;$50K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12848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1–2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12848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wet-lab PoC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50008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pHK, silicify polyplex, verify DLS/TEM. In vitro transfection in DC line.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12848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$0.5–2M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13048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22776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22776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3–5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22776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9936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IND-enabling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59936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 tox, NHP immunogenicity, CMC scale-up, stability data package.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22776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22776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$15–40M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22976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32704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32704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5–7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32704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9864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9864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volunteers. Safety, immunogenicity readouts. Platform validation.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32704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$20–50M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32904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42632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42632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7–10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42632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2/3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approval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vaccine indication. Regulatory approval. Commercialization.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42632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42632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$200–500M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platform acquisitions: Translate Bio → Sanofi for $3.2B (2021).¹⁵ Category precedent exists.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Q4 2026 readouts that decide everything.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is a specific, falsifiable test of one core assumption. If any of the three fails, the platform fails — and the project terminates rather than chases the failure.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97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76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· GEOMETRY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Polyplex forms at the right size.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pHK + mRNA at N/P=8 produces a polyplex with hydrodynamic diameter &lt;150 nm by DLS, polydispersity index &lt;0.25.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2331720" cy="4572"/>
          </a:xfrm>
          <a:prstGeom prst="rect">
            <a:avLst/>
          </a:prstGeom>
          <a:solidFill>
            <a:srgbClr val="E5E0D0"/>
          </a:solidFill>
          <a:ln w="12700">
            <a:solidFill>
              <a:srgbClr val="E5E0D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→ the carrier doesn't physically condense mRNA. End of story.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20116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2011680"/>
            <a:ext cx="2697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176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· MANUFACTURING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47288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Silica shell deposits reproducibly.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47288" y="30906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independent batches, biomimetic silica shell thickness measured by TEM falls in the range 4–6 nm, with shell coverage &gt;95%.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47288" y="3794760"/>
            <a:ext cx="2331720" cy="4572"/>
          </a:xfrm>
          <a:prstGeom prst="rect">
            <a:avLst/>
          </a:prstGeom>
          <a:solidFill>
            <a:srgbClr val="E5E0D0"/>
          </a:solidFill>
          <a:ln w="12700">
            <a:solidFill>
              <a:srgbClr val="E5E0D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→ the platform isn't manufacturable at clinical scale. The economics collapse.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71616" y="20116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2011680"/>
            <a:ext cx="2697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2176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· BIOLOGY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54496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Endosomal escape works.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54496" y="30906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dendritic cell line, SHiP particles transfect at ≥10% the protein expression efficiency of an SM-102 LNP control carrying the same payload.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4496" y="3794760"/>
            <a:ext cx="2331720" cy="4572"/>
          </a:xfrm>
          <a:prstGeom prst="rect">
            <a:avLst/>
          </a:prstGeom>
          <a:solidFill>
            <a:srgbClr val="E5E0D0"/>
          </a:solidFill>
          <a:ln w="12700">
            <a:solidFill>
              <a:srgbClr val="E5E0D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→ the proton sponge mechanism doesn't deliver cytosolic mRNA. Fall back to peptide conjugate or terminate.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what would falsify the platform separates a research direction from an investable one.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building this, and who's missing.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about the current team state is more credible than overstatement. Here is what exists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1F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023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Founder: Cyrus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10, Vancouver. Prior work: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mRNA-LNP stability prediction 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Biphasic Arrhenius model, MAE 4.52%, R² 0.848 across 36 data points. Presented at GVRSF 2026.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ARXA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targeted mRNA for atherosclerosis reversal (founder).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 Think Youth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nonprofit empowering youth; currently fundraising for initiatives including the Tumbler Ridge Foundation (director of fundraising).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40233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gaps this $1M seed closes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Scientific advisor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LNP formulation expertise (targets: Cullis, Cheng, Blakney @ UBC; Green @ Hopkins).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Wet-lab partnership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UBC or equivalent facility with polymer synthesis + nanoparticle characterization.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Graduate-level co-founder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PhD or postdoc willing to commit time once proof-of-concept data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Patent counsel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(pro-bono student filings available via Smart &amp; Biggar or Oyen Wiggs, Vancouver).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optimizing for: converting credible scientific merit into committed mentor relationships, then into generated data.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field isn't LNPs — it's every thermostable mRNA approach.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54680" y="1737360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3063240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 rot="16200000">
            <a:off x="59436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POTENCY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4315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AT 25°C 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40180" y="1805940"/>
            <a:ext cx="292608" cy="29260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1076" y="18790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Pfizer/Moderna LNP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8997" y="2145182"/>
            <a:ext cx="256032" cy="256032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9893" y="220004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Arcturus LUNAR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02636" y="2688336"/>
            <a:ext cx="256032" cy="25603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5244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CureVac lyo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15668" y="3067812"/>
            <a:ext cx="237744" cy="23774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9132" y="31135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PBAE polymers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35808" y="3438144"/>
            <a:ext cx="237744" cy="23774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3602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Bio cdDNA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83864" y="2253082"/>
            <a:ext cx="237744" cy="23774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29880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 (Replicate)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45813" y="3159252"/>
            <a:ext cx="822960" cy="5486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56125" y="3232404"/>
            <a:ext cx="402336" cy="402336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42893" y="36621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(proposed)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SHiP's position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192024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25°C stability in the field. No oxidizable chemistry means no upper bound from peroxidation kinetics.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ON: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Potency per µg mRNA. Expected 3–10× below optimized LNPs based on polymer-carrier literature.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LNPs in therapeutic indications. A dedicated platform for cold-chain-constrained vaccines where stability &gt; potency.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researched as of April 2026. Positions are approximate and based on published data.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conditions converged in 2025 that didn't exist five years ago.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chain economics finally quantified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90195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published the first rigorous per-dose cost analysis — €26/dose savings from thermostability, €5.7B annual EU cold chain cost. Before this, the economic case was qualitative.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591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3134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Pandemic preparedness as a funded category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66090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Post-COVID, CEPI and BARDA have deployed &gt;$1B specifically for thermostable pandemic vaccines. Dedicated non-dilutive funding didn't exist at this scale pre-2021.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181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30723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Biomimetic silica dissolution kinetics characterized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4198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ensilication literature has quantified thin-film silica dissolution under endosomal conditions — the open scientific question from 2018 is now parameterized and modelable.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77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83133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NCA polymerization is a commodity process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1788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Copaxone's patent expired long ago. Multiple CMOs produce poly(amino acids) at GMP scale. The polymer manufacturing risk is solved; the novelty sits entirely in the carrier architecture.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SHiP-style proposal in 2018 would have been premature. In 2030 it will be crowded. 2026 is the window.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Beachhead: pandemic-preparedness stockpile vaccines.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deliberate, defensible starting point — not "all mRNA vaccines."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buyer values stability over potency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 and BARDA explicitly fund thermostable platforms. Pfizer doesn't — they already have the world's cold chain infrastructure. This removes the #1 commercial objection.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2880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risk is lower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423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Use Authorization pathways and pre-negotiated regulatory frameworks (CEPI's 100 Days Mission) compress approval timelines substantially vs. a new commercial vaccine.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matches a first-gen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319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Stockpile volumes are 10–100M doses, not billions. Manufacturing reproducibility challenges (biomimetic silica shell uniformity) are tractable at this scale.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3756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Non-dilutive funding is available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9319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 has awarded &gt;$200M in thermostability-focused grants since 2022. A single CEPI award could fund IND-enabling work without VC dilution.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beachhead: routine LMIC vaccines via Gavi (measles, HPV, RSV) as SHiP's regulatory file matures.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LADDER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$50K becomes a real company — the honest map.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89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1828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8138160" cy="1371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1945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&lt;$50K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research grants, self-funded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validation, mentor review, provisional patent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Month 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697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$500K–$1M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Bio-focused angels, Nucleate, CEPI small grants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Wet-lab PoC, founding team, preliminary data package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2697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32004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Seed-stage bio VC, CEPI, BARDA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lab, 4–6 hires, IP suite, N/P ratio + EE optimization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3703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$20–40M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8892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Later-stage bio VC, strategic CVC (Pfizer Ventures, etc.)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IND-enabling: GLP tox, NHP immunogenicity, CMC scale-up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3703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C / Exit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91640" y="4206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889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bio VC or pharma acquisition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1/2 clinical, first indication filing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2062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5–8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raising at the Pre-seed stage. Every subsequent stage is conditional on the preceding stage's data package.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risk I've identified, and what would kill each one.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explicitly. Mitigation paths shown. A proposal with no risks is a proposal that hasn't been thought through.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4904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822960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 sponge efficacy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267712"/>
            <a:ext cx="7772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267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GALA/HA2 membrane-active peptide conjugate. Validated via MD in Phase 2.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Silica dissolution kinetics off-target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724912"/>
            <a:ext cx="777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7249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shell thickness 3–8 nm; incorporate amine dopants. Empirically characterizable.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Potency gap &gt;10× vs LNP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3182112"/>
            <a:ext cx="777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1821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saRNA to amplify in cytosol. Break-even at 5× gap maintains cost advantage.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reproducibility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3639312"/>
            <a:ext cx="777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6393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Silica shell uniformity batch-to-batch. Process development priority in Series 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Amorphous silica immunogenicity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096512"/>
            <a:ext cx="777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096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Mesoporous silica nanoparticles already in clinical trials. Precedent exists.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publishes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4553712"/>
            <a:ext cx="77724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553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4480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literature review in Month 1; provisional patent before external outreach.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criteria: if Phase 2 MD shows proton sponge cannot rupture an endosome even with peptide conjugate, the project is terminated.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32120" y="2788920"/>
            <a:ext cx="4572000" cy="4572000"/>
          </a:xfrm>
          <a:prstGeom prst="ellipse">
            <a:avLst/>
          </a:prstGeom>
          <a:solidFill>
            <a:srgbClr val="06B6D4">
              <a:alpha val="2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2834640"/>
            <a:ext cx="4572000" cy="4572000"/>
          </a:xfrm>
          <a:prstGeom prst="ellipse">
            <a:avLst/>
          </a:prstGeom>
          <a:solidFill>
            <a:srgbClr val="06B6D4">
              <a:alpha val="2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3560" y="2880360"/>
            <a:ext cx="4572000" cy="4572000"/>
          </a:xfrm>
          <a:prstGeom prst="ellipse">
            <a:avLst/>
          </a:prstGeom>
          <a:solidFill>
            <a:srgbClr val="06B6D4">
              <a:alpha val="24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2926080"/>
            <a:ext cx="4572000" cy="4572000"/>
          </a:xfrm>
          <a:prstGeom prst="ellipse">
            <a:avLst/>
          </a:prstGeom>
          <a:solidFill>
            <a:srgbClr val="06B6D4">
              <a:alpha val="22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2971800"/>
            <a:ext cx="4572000" cy="4572000"/>
          </a:xfrm>
          <a:prstGeom prst="ellipse">
            <a:avLst/>
          </a:prstGeom>
          <a:solidFill>
            <a:srgbClr val="06B6D4">
              <a:alpha val="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3017520"/>
            <a:ext cx="4572000" cy="4572000"/>
          </a:xfrm>
          <a:prstGeom prst="ellipse">
            <a:avLst/>
          </a:prstGeom>
          <a:solidFill>
            <a:srgbClr val="06B6D4">
              <a:alpha val="1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3063240"/>
            <a:ext cx="4572000" cy="4572000"/>
          </a:xfrm>
          <a:prstGeom prst="ellipse">
            <a:avLst/>
          </a:prstGeom>
          <a:solidFill>
            <a:srgbClr val="06B6D4">
              <a:alpha val="1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 pre-seed.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specific capital that unlocks the seed round.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514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 review → committed scientific advisor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816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expert review with Cullis/Cheng/Blakney; signed advisory agreement as output.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2783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computational data package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958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multi-pathway Arrhenius model + MD simulations (GROMACS) + in-silico oxidation audit. Output: publishable preprint.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4106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3941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Provisional patent + literature landscape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4281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filing with counsel; formal prior-art search to verify novelty before seed raise.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754880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Cyrus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SHiP Platform Proposal   ·   seeking first check + scientific advisor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cited throughout the deck.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Insights. mRNA Vaccines Market Size, Share 2034 Report. 2026.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Intelligence. mRNA Vaccines and Therapeutics Market Size &amp; Share Report. 2026.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IQVIA. Tip of the Iceberg: Economic and Environmental Impact of the Vaccine Cold Chain. 2025.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Revising Global Indicative Wastage Rates. 2019.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Sensos / Kelsius industry analyses of pharmaceutical cold chain losses, 2025.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Hallett, J. Imperial College London Q&amp;A on cold chains and COVID-19 vaccines. 2021.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Schoenmaker, L., et al. mRNA-lipid nanoparticle COVID-19 vaccines: structure and stability. Int. J. Pharm. 601 (2021): 120586.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Yin, H., Xu, L., Porter, N. A. Free Radical Lipid Peroxidation: Mechanisms and Analysis. Chem. Rev. 111 (2011): 5944–5972.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Bis-allylic C–H BDE ≈ 75 kcal/mol; aliphatic C–H ≈ 98 kcal/mol. Luo, Y.-R. Comprehensive Handbook of Chemical Bond Energies, CRC Press, 2007.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Behr, J. P. The proton sponge: a trick to enter cells the viruses did not exploit. Chimia 51 (1997): 34–36.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554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Midoux, P., Monsigny, M. Efficient gene transfer by histidylated polylysine/pDNA complexes. Bioconj. Chem. 10 (1999): 406–411.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1920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Kröger, N., Deutzmann, R., Sumper, M. Polycationic peptides from diatom biosilica. Science 286 (1999): 1129–1132.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286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Sartbaeva group (U. Bath). Ensilication for room-temperature storage of proteins. Nat. Commun. / Sci. Rep. 2017–2021.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Crowe, J. H., Crowe, L. M., Carpenter, J. F. Anhydrobiosis and the preservation of biological materials by trehalose. Annu. Rev. Physiol. 60 (1998): 73–103.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Sanofi press release, 3 August 2021: Translate Bio acquisition at $3.2B equity value.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383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Teva / FDA. Copaxone (glatiramer acetate), approved 1996. NCA-polymerized amino acid copolymer at scale.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Gilleron, J., et al. Image-based analysis of LNP siRNA delivery. Nat. Biotechnol. 31 (2013): 638–646.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proposal and scientific rationale documents available on request.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SHiP: Ambient-Stable mRNA Vaccine Delivery</dc:title>
  <dc:subject>PptxGenJS Presentation</dc:subject>
  <dc:creator>Cyrus</dc:creator>
  <cp:lastModifiedBy>Cyrus</cp:lastModifiedBy>
  <cp:revision>1</cp:revision>
  <dcterms:created xsi:type="dcterms:W3CDTF">2026-04-30T01:55:10Z</dcterms:created>
  <dcterms:modified xsi:type="dcterms:W3CDTF">2026-04-30T01:55:10Z</dcterms:modified>
</cp:coreProperties>
</file>